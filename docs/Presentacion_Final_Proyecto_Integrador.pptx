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3B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E3B4A"/>
                </a:solidFill>
                <a:latin typeface="+mn-lt"/>
              </a:rPr>
              <a:t>Tasa de churn según tipo de contrato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churn</c:v>
                </c:pt>
              </c:strCache>
            </c:strRef>
          </c:tx>
          <c:spPr>
            <a:solidFill>
              <a:srgbClr val="E2583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58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Mes a mes</c:v>
                  </c:pt>
                  <c:pt idx="1">
                    <c:v>1 año</c:v>
                  </c:pt>
                  <c:pt idx="2">
                    <c:v>2 años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42.699999999999996</c:v>
                </c:pt>
                <c:pt idx="1">
                  <c:v>11.1</c:v>
                </c:pt>
                <c:pt idx="2">
                  <c:v>2.9000000000000004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B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DD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A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3B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E3B4A"/>
                </a:solidFill>
                <a:latin typeface="+mn-lt"/>
              </a:rPr>
              <a:t>Tasa de churn según antigüedad en meses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churn</c:v>
                </c:pt>
              </c:strCache>
            </c:strRef>
          </c:tx>
          <c:spPr>
            <a:solidFill>
              <a:srgbClr val="E2583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58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0-6</c:v>
                  </c:pt>
                  <c:pt idx="1">
                    <c:v>7-12</c:v>
                  </c:pt>
                  <c:pt idx="2">
                    <c:v>13-24</c:v>
                  </c:pt>
                  <c:pt idx="3">
                    <c:v>25-48</c:v>
                  </c:pt>
                  <c:pt idx="4">
                    <c:v>49-72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52.2</c:v>
                </c:pt>
                <c:pt idx="1">
                  <c:v>37.2</c:v>
                </c:pt>
                <c:pt idx="2">
                  <c:v>28.599999999999998</c:v>
                </c:pt>
                <c:pt idx="3">
                  <c:v>20.200000000000003</c:v>
                </c:pt>
                <c:pt idx="4">
                  <c:v>9.9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B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DD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A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3B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E3B4A"/>
                </a:solidFill>
                <a:latin typeface="+mn-lt"/>
              </a:rPr>
              <a:t>Abandonos detectados contactando al 20 % de mayor riesgo (%, test)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Abandonos detectados (%)</c:v>
                </c:pt>
              </c:strCache>
            </c:strRef>
          </c:tx>
          <c:spPr>
            <a:solidFill>
              <a:srgbClr val="8FB8C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B8C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78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3A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Gradient Boosting</c:v>
                  </c:pt>
                  <c:pt idx="1">
                    <c:v>Random Forest</c:v>
                  </c:pt>
                  <c:pt idx="2">
                    <c:v>Logística + SMOTE</c:v>
                  </c:pt>
                  <c:pt idx="3">
                    <c:v>Logística balanceada (pre-entrega)</c:v>
                  </c:pt>
                  <c:pt idx="4">
                    <c:v>Regresión Logística (elegida)</c:v>
                  </c:pt>
                  <c:pt idx="5">
                    <c:v>Llamar al azar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52.8</c:v>
                </c:pt>
                <c:pt idx="1">
                  <c:v>51.5</c:v>
                </c:pt>
                <c:pt idx="2">
                  <c:v>53.5</c:v>
                </c:pt>
                <c:pt idx="3">
                  <c:v>53.2</c:v>
                </c:pt>
                <c:pt idx="4">
                  <c:v>53.2</c:v>
                </c:pt>
                <c:pt idx="5">
                  <c:v>20.1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9525" cap="flat">
              <a:solidFill>
                <a:srgbClr val="DD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A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3B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E3B4A"/>
                </a:solidFill>
                <a:latin typeface="+mn-lt"/>
              </a:rPr>
              <a:t>% de abandonos detectados según % de la cartera contactada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</c:v>
                </c:pt>
              </c:strCache>
            </c:strRef>
          </c:tx>
          <c:spPr>
            <a:solidFill>
              <a:srgbClr val="13788A"/>
            </a:solidFill>
            <a:ln w="38100" cap="flat">
              <a:solidFill>
                <a:srgbClr val="1378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3788A"/>
              </a:solidFill>
              <a:ln w="9525" cap="flat">
                <a:solidFill>
                  <a:srgbClr val="1378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28.8</c:v>
                </c:pt>
                <c:pt idx="2">
                  <c:v>53.2</c:v>
                </c:pt>
                <c:pt idx="3">
                  <c:v>68.9</c:v>
                </c:pt>
                <c:pt idx="4">
                  <c:v>78.9</c:v>
                </c:pt>
                <c:pt idx="5">
                  <c:v>87</c:v>
                </c:pt>
                <c:pt idx="6">
                  <c:v>92.3</c:v>
                </c:pt>
                <c:pt idx="7">
                  <c:v>97.7</c:v>
                </c:pt>
                <c:pt idx="8">
                  <c:v>98.7</c:v>
                </c:pt>
                <c:pt idx="9">
                  <c:v>99.7</c:v>
                </c:pt>
                <c:pt idx="10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 azar</c:v>
                </c:pt>
              </c:strCache>
            </c:strRef>
          </c:tx>
          <c:spPr>
            <a:solidFill>
              <a:srgbClr val="9AA3A7"/>
            </a:solidFill>
            <a:ln w="38100" cap="flat">
              <a:solidFill>
                <a:srgbClr val="9AA3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2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7"/>
              </a:solidFill>
              <a:ln w="9525" cap="flat">
                <a:solidFill>
                  <a:srgbClr val="9AA3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2328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9AA3A7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9AA3A7"/>
                    </a:solidFill>
                    <a:latin typeface="Arial"/>
                  </a:rPr>
                  <a:t>% de la cartera contactada (de mayor a menor riesgo)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DE3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A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3B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E3B4A"/>
                </a:solidFill>
                <a:latin typeface="+mn-lt"/>
              </a:rPr>
              <a:t>Importancia de cada variable (SHAP)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1378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Líneas múltiples</c:v>
                  </c:pt>
                  <c:pt idx="1">
                    <c:v>Soporte técnico</c:v>
                  </c:pt>
                  <c:pt idx="2">
                    <c:v>Seguridad online</c:v>
                  </c:pt>
                  <c:pt idx="3">
                    <c:v>Cargo total</c:v>
                  </c:pt>
                  <c:pt idx="4">
                    <c:v>Cargo mensual</c:v>
                  </c:pt>
                  <c:pt idx="5">
                    <c:v>Tipo de internet</c:v>
                  </c:pt>
                  <c:pt idx="6">
                    <c:v>Tipo de contrato</c:v>
                  </c:pt>
                  <c:pt idx="7">
                    <c:v>Antigüedad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0.19</c:v>
                </c:pt>
                <c:pt idx="1">
                  <c:v>0.21</c:v>
                </c:pt>
                <c:pt idx="2">
                  <c:v>0.22</c:v>
                </c:pt>
                <c:pt idx="3">
                  <c:v>0.42</c:v>
                </c:pt>
                <c:pt idx="4">
                  <c:v>0.44</c:v>
                </c:pt>
                <c:pt idx="5">
                  <c:v>0.55</c:v>
                </c:pt>
                <c:pt idx="6">
                  <c:v>0.55</c:v>
                </c:pt>
                <c:pt idx="7">
                  <c:v>1.05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B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3A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un modelo que le dice al área de Retención a qué clientes llamar primero, para no perder a los que están por irse.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dataset es una foto: no tiene fechas, por eso hablamos de tasa observada en la muestra y no de tasa mensual. El problema es de priorización, no de clasificar sí o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Empezamos y terminamos en el negocio. El modelo se eligió con una regla definida antes de mirar el test, para no elegir por suerte.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pre-entrega habíamos dicho que no había nulos. Mirando más fino encontramos el valor de relleno y lo corregimos.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Promedio de la muestra: 26,5 %. Contrato y antigüedad cuentan una historia muy parecida: los clientes nuevos suelen estar mes a 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Boosting tiene una PR-AUC apenas mayor (0,673 contra 0,666) pero la diferencia no es significativa. No cambiamos la regla por el resultado del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Contactando al 20 % mejor rankeado detectamos 53,2 % de los abandonos (intervalo de 95 %: 49 a 58 %). Con 26,5 % de churn, llamar al 20 % nunca puede cubrir más del 75 %.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cargo mensual alto se asocia a más abandono en el EDA, pero dentro del modelo ese efecto lo explican la fibra y el streaming.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Retener suele ser más barato que conseguir un cliente nuevo, pero solo con los clientes que valen la pena. El cliente retenido promedio vale unos USD 2.100: hasta ese costo conviene retener.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ranking dice a quién llamar; la interpretación sugiere qué ofrecer.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diferencia de tasa real entre grupos no prueba ausencia de sesgo: por eso la auditoría se repite en cada campaña.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una recomendación proporcional a la evidencia: el modelo tiene señal útil, pero el beneficio real se confirma con un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Grupo 4 · Proyecto Final Integrador · Predicción de abandono de clientes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grozo660/Proyecto-Final-AnalisisDeDatos-UTN" TargetMode="External"/><Relationship Id="rId2" Type="http://schemas.openxmlformats.org/officeDocument/2006/relationships/hyperlink" Target="https://colab.research.google.com/github/jgrozo660/Proyecto-Final-AnalisisDeDatos-UTN/blob/main/proyecto_integrador.ipynb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¿A quién llamar primero?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Predicción de abandono (churn) de clientes en una empresa de telecomunicaciones</a:t>
            </a:r>
            <a:endParaRPr lang="en-US" sz="2400" dirty="0"/>
          </a:p>
        </p:txBody>
      </p:sp>
      <p:sp>
        <p:nvSpPr>
          <p:cNvPr id="4" name="portada-datos"/>
          <p:cNvSpPr txBox="1"/>
          <p:nvPr/>
        </p:nvSpPr>
        <p:spPr>
          <a:xfrm>
            <a:off x="731520" y="457200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Grupo 4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Agustín Bilche Braga · Agustina Díaz · Carlos Grozo · Milagros Crespo · Luana Zalcman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Diplomado en Ciencia de Datos y Análisis Avanzado · UTN.BA · Unidad 10 · Proyecto Final Integrador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Octubre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 de cada 4 clientes se va, y no se puede llamar a todos</a:t>
            </a:r>
            <a:endParaRPr lang="en-US" sz="3200" dirty="0"/>
          </a:p>
        </p:txBody>
      </p:sp>
      <p:sp>
        <p:nvSpPr>
          <p:cNvPr id="3" name="card-churn"/>
          <p:cNvSpPr/>
          <p:nvPr/>
        </p:nvSpPr>
        <p:spPr>
          <a:xfrm>
            <a:off x="548640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-churn-num"/>
          <p:cNvSpPr txBox="1"/>
          <p:nvPr/>
        </p:nvSpPr>
        <p:spPr>
          <a:xfrm>
            <a:off x="86868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26,5 %</a:t>
            </a:r>
            <a:endParaRPr lang="en-US" sz="6000" dirty="0"/>
          </a:p>
        </p:txBody>
      </p:sp>
      <p:sp>
        <p:nvSpPr>
          <p:cNvPr id="5" name="st-churn-txt"/>
          <p:cNvSpPr txBox="1"/>
          <p:nvPr/>
        </p:nvSpPr>
        <p:spPr>
          <a:xfrm>
            <a:off x="86868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los clientes abandona el servicio (tasa de churn observada en la muestra)</a:t>
            </a:r>
            <a:endParaRPr lang="en-US" sz="1600" dirty="0"/>
          </a:p>
        </p:txBody>
      </p:sp>
      <p:sp>
        <p:nvSpPr>
          <p:cNvPr id="6" name="card-cupo"/>
          <p:cNvSpPr/>
          <p:nvPr/>
        </p:nvSpPr>
        <p:spPr>
          <a:xfrm>
            <a:off x="4343400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t-cupo-num"/>
          <p:cNvSpPr txBox="1"/>
          <p:nvPr/>
        </p:nvSpPr>
        <p:spPr>
          <a:xfrm>
            <a:off x="466344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20 %</a:t>
            </a:r>
            <a:endParaRPr lang="en-US" sz="6000" dirty="0"/>
          </a:p>
        </p:txBody>
      </p:sp>
      <p:sp>
        <p:nvSpPr>
          <p:cNvPr id="8" name="st-cupo-txt"/>
          <p:cNvSpPr txBox="1"/>
          <p:nvPr/>
        </p:nvSpPr>
        <p:spPr>
          <a:xfrm>
            <a:off x="466344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la cartera puede contactar Retención en cada campaña</a:t>
            </a:r>
            <a:endParaRPr lang="en-US" sz="1600" dirty="0"/>
          </a:p>
        </p:txBody>
      </p:sp>
      <p:sp>
        <p:nvSpPr>
          <p:cNvPr id="9" name="card-preg"/>
          <p:cNvSpPr/>
          <p:nvPr/>
        </p:nvSpPr>
        <p:spPr>
          <a:xfrm>
            <a:off x="8138160" y="155448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regunta"/>
          <p:cNvSpPr txBox="1"/>
          <p:nvPr/>
        </p:nvSpPr>
        <p:spPr>
          <a:xfrm>
            <a:off x="8458200" y="182880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La pregunta de negocio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¿A qué 20 % llamar para detectar la mayor cantidad posible de clientes que se van a ir?</a:t>
            </a:r>
            <a:endParaRPr lang="en-US" sz="1600" dirty="0"/>
          </a:p>
        </p:txBody>
      </p:sp>
      <p:sp>
        <p:nvSpPr>
          <p:cNvPr id="11" name="contexto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Hoy ese cupo se asigna sin un criterio. Llamando al azar se detecta, en promedio, solo el 20 % de los abandonos.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trabajamos: CRISP-DM</a:t>
            </a:r>
            <a:endParaRPr lang="en-US" sz="3200" dirty="0"/>
          </a:p>
        </p:txBody>
      </p:sp>
      <p:sp>
        <p:nvSpPr>
          <p:cNvPr id="3" name="paso-0"/>
          <p:cNvSpPr/>
          <p:nvPr/>
        </p:nvSpPr>
        <p:spPr>
          <a:xfrm>
            <a:off x="548640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so-0-c"/>
          <p:cNvSpPr/>
          <p:nvPr/>
        </p:nvSpPr>
        <p:spPr>
          <a:xfrm>
            <a:off x="1143000" y="1874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paso-0-n"/>
          <p:cNvSpPr txBox="1"/>
          <p:nvPr/>
        </p:nvSpPr>
        <p:spPr>
          <a:xfrm>
            <a:off x="11430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aso-t-0"/>
          <p:cNvSpPr txBox="1"/>
          <p:nvPr/>
        </p:nvSpPr>
        <p:spPr>
          <a:xfrm>
            <a:off x="68580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Negocio</a:t>
            </a:r>
            <a:endParaRPr lang="en-US" sz="1700" dirty="0"/>
          </a:p>
        </p:txBody>
      </p:sp>
      <p:sp>
        <p:nvSpPr>
          <p:cNvPr id="7" name="paso-d-0"/>
          <p:cNvSpPr txBox="1"/>
          <p:nvPr/>
        </p:nvSpPr>
        <p:spPr>
          <a:xfrm>
            <a:off x="685800" y="31546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KPI: % de abandonos detectados contactando al 20 %. Meta: 55 %.</a:t>
            </a:r>
            <a:endParaRPr lang="en-US" sz="1400" dirty="0"/>
          </a:p>
        </p:txBody>
      </p:sp>
      <p:sp>
        <p:nvSpPr>
          <p:cNvPr id="8" name="paso-1"/>
          <p:cNvSpPr/>
          <p:nvPr/>
        </p:nvSpPr>
        <p:spPr>
          <a:xfrm>
            <a:off x="2441448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aso-1-c"/>
          <p:cNvSpPr/>
          <p:nvPr/>
        </p:nvSpPr>
        <p:spPr>
          <a:xfrm>
            <a:off x="3035808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aso-1-n"/>
          <p:cNvSpPr txBox="1"/>
          <p:nvPr/>
        </p:nvSpPr>
        <p:spPr>
          <a:xfrm>
            <a:off x="303580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paso-t-1"/>
          <p:cNvSpPr txBox="1"/>
          <p:nvPr/>
        </p:nvSpPr>
        <p:spPr>
          <a:xfrm>
            <a:off x="2578608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Datos</a:t>
            </a:r>
            <a:endParaRPr lang="en-US" sz="1700" dirty="0"/>
          </a:p>
        </p:txBody>
      </p:sp>
      <p:sp>
        <p:nvSpPr>
          <p:cNvPr id="12" name="paso-d-1"/>
          <p:cNvSpPr txBox="1"/>
          <p:nvPr/>
        </p:nvSpPr>
        <p:spPr>
          <a:xfrm>
            <a:off x="2578608" y="31546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5.634 clientes, 21 variables. EDA y control de calidad.</a:t>
            </a:r>
            <a:endParaRPr lang="en-US" sz="1400" dirty="0"/>
          </a:p>
        </p:txBody>
      </p:sp>
      <p:sp>
        <p:nvSpPr>
          <p:cNvPr id="13" name="paso-2"/>
          <p:cNvSpPr/>
          <p:nvPr/>
        </p:nvSpPr>
        <p:spPr>
          <a:xfrm>
            <a:off x="4334256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aso-2-c"/>
          <p:cNvSpPr/>
          <p:nvPr/>
        </p:nvSpPr>
        <p:spPr>
          <a:xfrm>
            <a:off x="4928616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aso-2-n"/>
          <p:cNvSpPr txBox="1"/>
          <p:nvPr/>
        </p:nvSpPr>
        <p:spPr>
          <a:xfrm>
            <a:off x="492861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paso-t-2"/>
          <p:cNvSpPr txBox="1"/>
          <p:nvPr/>
        </p:nvSpPr>
        <p:spPr>
          <a:xfrm>
            <a:off x="4471416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Preparación</a:t>
            </a:r>
            <a:endParaRPr lang="en-US" sz="1700" dirty="0"/>
          </a:p>
        </p:txBody>
      </p:sp>
      <p:sp>
        <p:nvSpPr>
          <p:cNvPr id="17" name="paso-d-2"/>
          <p:cNvSpPr txBox="1"/>
          <p:nvPr/>
        </p:nvSpPr>
        <p:spPr>
          <a:xfrm>
            <a:off x="4471416" y="31546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Pipeline sin fuga de información; variable n_servicios.</a:t>
            </a:r>
            <a:endParaRPr lang="en-US" sz="1400" dirty="0"/>
          </a:p>
        </p:txBody>
      </p:sp>
      <p:sp>
        <p:nvSpPr>
          <p:cNvPr id="18" name="paso-3"/>
          <p:cNvSpPr/>
          <p:nvPr/>
        </p:nvSpPr>
        <p:spPr>
          <a:xfrm>
            <a:off x="6227064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paso-3-c"/>
          <p:cNvSpPr/>
          <p:nvPr/>
        </p:nvSpPr>
        <p:spPr>
          <a:xfrm>
            <a:off x="6821424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aso-3-n"/>
          <p:cNvSpPr txBox="1"/>
          <p:nvPr/>
        </p:nvSpPr>
        <p:spPr>
          <a:xfrm>
            <a:off x="6821424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paso-t-3"/>
          <p:cNvSpPr txBox="1"/>
          <p:nvPr/>
        </p:nvSpPr>
        <p:spPr>
          <a:xfrm>
            <a:off x="6364224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Modelado</a:t>
            </a:r>
            <a:endParaRPr lang="en-US" sz="1700" dirty="0"/>
          </a:p>
        </p:txBody>
      </p:sp>
      <p:sp>
        <p:nvSpPr>
          <p:cNvPr id="22" name="paso-d-3"/>
          <p:cNvSpPr txBox="1"/>
          <p:nvPr/>
        </p:nvSpPr>
        <p:spPr>
          <a:xfrm>
            <a:off x="6364224" y="31546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variantes comparadas con validación cruzada de 5 folds.</a:t>
            </a:r>
            <a:endParaRPr lang="en-US" sz="1400" dirty="0"/>
          </a:p>
        </p:txBody>
      </p:sp>
      <p:sp>
        <p:nvSpPr>
          <p:cNvPr id="23" name="paso-4"/>
          <p:cNvSpPr/>
          <p:nvPr/>
        </p:nvSpPr>
        <p:spPr>
          <a:xfrm>
            <a:off x="8119872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paso-4-c"/>
          <p:cNvSpPr/>
          <p:nvPr/>
        </p:nvSpPr>
        <p:spPr>
          <a:xfrm>
            <a:off x="8714232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paso-4-n"/>
          <p:cNvSpPr txBox="1"/>
          <p:nvPr/>
        </p:nvSpPr>
        <p:spPr>
          <a:xfrm>
            <a:off x="871423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paso-t-4"/>
          <p:cNvSpPr txBox="1"/>
          <p:nvPr/>
        </p:nvSpPr>
        <p:spPr>
          <a:xfrm>
            <a:off x="8257032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Evaluación</a:t>
            </a:r>
            <a:endParaRPr lang="en-US" sz="1700" dirty="0"/>
          </a:p>
        </p:txBody>
      </p:sp>
      <p:sp>
        <p:nvSpPr>
          <p:cNvPr id="27" name="paso-d-4"/>
          <p:cNvSpPr txBox="1"/>
          <p:nvPr/>
        </p:nvSpPr>
        <p:spPr>
          <a:xfrm>
            <a:off x="8257032" y="31546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único de 1.127 clientes + intervalos de confianza.</a:t>
            </a:r>
            <a:endParaRPr lang="en-US" sz="1400" dirty="0"/>
          </a:p>
        </p:txBody>
      </p:sp>
      <p:sp>
        <p:nvSpPr>
          <p:cNvPr id="28" name="paso-5"/>
          <p:cNvSpPr/>
          <p:nvPr/>
        </p:nvSpPr>
        <p:spPr>
          <a:xfrm>
            <a:off x="10012680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paso-5-c"/>
          <p:cNvSpPr/>
          <p:nvPr/>
        </p:nvSpPr>
        <p:spPr>
          <a:xfrm>
            <a:off x="10607040" y="1874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paso-5-n"/>
          <p:cNvSpPr txBox="1"/>
          <p:nvPr/>
        </p:nvSpPr>
        <p:spPr>
          <a:xfrm>
            <a:off x="106070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paso-t-5"/>
          <p:cNvSpPr txBox="1"/>
          <p:nvPr/>
        </p:nvSpPr>
        <p:spPr>
          <a:xfrm>
            <a:off x="10149840" y="25603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Negocio otra vez</a:t>
            </a:r>
            <a:endParaRPr lang="en-US" sz="1700" dirty="0"/>
          </a:p>
        </p:txBody>
      </p:sp>
      <p:sp>
        <p:nvSpPr>
          <p:cNvPr id="32" name="paso-d-5"/>
          <p:cNvSpPr txBox="1"/>
          <p:nvPr/>
        </p:nvSpPr>
        <p:spPr>
          <a:xfrm>
            <a:off x="10149840" y="31546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Impacto económico, auditoría ética y acciones.</a:t>
            </a:r>
            <a:endParaRPr lang="en-US" sz="1400" dirty="0"/>
          </a:p>
        </p:txBody>
      </p:sp>
      <p:sp>
        <p:nvSpPr>
          <p:cNvPr id="33" name="metodo-pie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Todo el proceso está en un notebook reproducible (Colab + GitHub) con semilla fija y un registro de decisiones.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Los datos: limpios a primera vista, con una trampa</a:t>
            </a:r>
            <a:endParaRPr lang="en-US" sz="3200" dirty="0"/>
          </a:p>
        </p:txBody>
      </p:sp>
      <p:sp>
        <p:nvSpPr>
          <p:cNvPr id="3" name="dato-0"/>
          <p:cNvSpPr/>
          <p:nvPr/>
        </p:nvSpPr>
        <p:spPr>
          <a:xfrm>
            <a:off x="548640" y="155448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ato-n-0"/>
          <p:cNvSpPr txBox="1"/>
          <p:nvPr/>
        </p:nvSpPr>
        <p:spPr>
          <a:xfrm>
            <a:off x="82296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5.634</a:t>
            </a:r>
            <a:endParaRPr lang="en-US" sz="4000" dirty="0"/>
          </a:p>
        </p:txBody>
      </p:sp>
      <p:sp>
        <p:nvSpPr>
          <p:cNvPr id="5" name="dato-t-0"/>
          <p:cNvSpPr txBox="1"/>
          <p:nvPr/>
        </p:nvSpPr>
        <p:spPr>
          <a:xfrm>
            <a:off x="2560320" y="16916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clientes para entrenar y evaluar</a:t>
            </a:r>
            <a:endParaRPr lang="en-US" sz="1500" dirty="0"/>
          </a:p>
        </p:txBody>
      </p:sp>
      <p:sp>
        <p:nvSpPr>
          <p:cNvPr id="6" name="dato-1"/>
          <p:cNvSpPr/>
          <p:nvPr/>
        </p:nvSpPr>
        <p:spPr>
          <a:xfrm>
            <a:off x="548640" y="301752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dato-n-1"/>
          <p:cNvSpPr txBox="1"/>
          <p:nvPr/>
        </p:nvSpPr>
        <p:spPr>
          <a:xfrm>
            <a:off x="822960" y="3154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1.409</a:t>
            </a:r>
            <a:endParaRPr lang="en-US" sz="4000" dirty="0"/>
          </a:p>
        </p:txBody>
      </p:sp>
      <p:sp>
        <p:nvSpPr>
          <p:cNvPr id="8" name="dato-t-1"/>
          <p:cNvSpPr txBox="1"/>
          <p:nvPr/>
        </p:nvSpPr>
        <p:spPr>
          <a:xfrm>
            <a:off x="2560320" y="3154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clientes a predecir (test.csv)</a:t>
            </a:r>
            <a:endParaRPr lang="en-US" sz="1500" dirty="0"/>
          </a:p>
        </p:txBody>
      </p:sp>
      <p:sp>
        <p:nvSpPr>
          <p:cNvPr id="9" name="dato-2"/>
          <p:cNvSpPr/>
          <p:nvPr/>
        </p:nvSpPr>
        <p:spPr>
          <a:xfrm>
            <a:off x="548640" y="4480560"/>
            <a:ext cx="40233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dato-n-2"/>
          <p:cNvSpPr txBox="1"/>
          <p:nvPr/>
        </p:nvSpPr>
        <p:spPr>
          <a:xfrm>
            <a:off x="822960" y="46177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21</a:t>
            </a:r>
            <a:endParaRPr lang="en-US" sz="4000" dirty="0"/>
          </a:p>
        </p:txBody>
      </p:sp>
      <p:sp>
        <p:nvSpPr>
          <p:cNvPr id="11" name="dato-t-2"/>
          <p:cNvSpPr txBox="1"/>
          <p:nvPr/>
        </p:nvSpPr>
        <p:spPr>
          <a:xfrm>
            <a:off x="2560320" y="4617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variables: perfil, servicios, contrato y facturación</a:t>
            </a:r>
            <a:endParaRPr lang="en-US" sz="1500" dirty="0"/>
          </a:p>
        </p:txBody>
      </p:sp>
      <p:sp>
        <p:nvSpPr>
          <p:cNvPr id="12" name="trampa"/>
          <p:cNvSpPr/>
          <p:nvPr/>
        </p:nvSpPr>
        <p:spPr>
          <a:xfrm>
            <a:off x="4937760" y="1554480"/>
            <a:ext cx="667512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rampa-borde"/>
          <p:cNvSpPr/>
          <p:nvPr/>
        </p:nvSpPr>
        <p:spPr>
          <a:xfrm>
            <a:off x="4937760" y="1554480"/>
            <a:ext cx="667512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rampa-texto"/>
          <p:cNvSpPr txBox="1"/>
          <p:nvPr/>
        </p:nvSpPr>
        <p:spPr>
          <a:xfrm>
            <a:off x="5303520" y="1783080"/>
            <a:ext cx="5943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accent2"/>
                </a:solidFill>
              </a:rPr>
              <a:t>"0 valores nulos"… pero no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Los 8 clientes recién dados de alta (0 meses de antigüedad) tenían un cargo total de 1.397, que es exactamente la mediana de la columna: el archivo venía rellenado.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Decisión: corregirlo a 0.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Un cliente sin meses facturados no acumuló cargos. Además descartamos el "cargo promedio por mes" (repetía el cargo mensual) y agregamos la cantidad de servicios contratados.</a:t>
            </a:r>
            <a:endParaRPr lang="en-US" sz="2200" dirty="0"/>
          </a:p>
        </p:txBody>
      </p:sp>
      <p:sp>
        <p:nvSpPr>
          <p:cNvPr id="15" name="fuente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Fuente: competencia de Kaggle "Predicción de fuga de cliente" (dataset Telco Customer Churn).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abandono se concentra en clientes nuevos y sin compromiso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41732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eda-pie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Contrato mes a mes: 43 % abandona, contra 3 % con contrato de 2 años. En los primeros 6 meses abandona más de la mitad. También suben el riesgo la fibra óptica, no tener soporte técnico y pagar con cheque electrónico.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Cinco modelos, un empate: elegimos el más simple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1-c"/>
          <p:cNvSpPr/>
          <p:nvPr/>
        </p:nvSpPr>
        <p:spPr>
          <a:xfrm>
            <a:off x="786384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1-n"/>
          <p:cNvSpPr txBox="1"/>
          <p:nvPr/>
        </p:nvSpPr>
        <p:spPr>
          <a:xfrm>
            <a:off x="78638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=</a:t>
            </a:r>
            <a:endParaRPr lang="en-US" sz="1800" dirty="0"/>
          </a:p>
        </p:txBody>
      </p:sp>
      <p:sp>
        <p:nvSpPr>
          <p:cNvPr id="6" name="m1-t"/>
          <p:cNvSpPr txBox="1"/>
          <p:nvPr/>
        </p:nvSpPr>
        <p:spPr>
          <a:xfrm>
            <a:off x="8549640" y="1554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Empate estadístico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 cinco quedan dentro del margen de error (validación cruzada e intervalos de confianza).</a:t>
            </a:r>
            <a:endParaRPr lang="en-US" sz="1600" dirty="0"/>
          </a:p>
        </p:txBody>
      </p:sp>
      <p:sp>
        <p:nvSpPr>
          <p:cNvPr id="7" name="m2-c"/>
          <p:cNvSpPr/>
          <p:nvPr/>
        </p:nvSpPr>
        <p:spPr>
          <a:xfrm>
            <a:off x="7863840" y="2971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m2-n"/>
          <p:cNvSpPr txBox="1"/>
          <p:nvPr/>
        </p:nvSpPr>
        <p:spPr>
          <a:xfrm>
            <a:off x="78638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m2-t"/>
          <p:cNvSpPr txBox="1"/>
          <p:nvPr/>
        </p:nvSpPr>
        <p:spPr>
          <a:xfrm>
            <a:off x="8549640" y="29260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Regla fijada de antemano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 empatados, el más simple: Regresión Logística.</a:t>
            </a:r>
            <a:endParaRPr lang="en-US" sz="1600" dirty="0"/>
          </a:p>
        </p:txBody>
      </p:sp>
      <p:sp>
        <p:nvSpPr>
          <p:cNvPr id="10" name="m3-c"/>
          <p:cNvSpPr/>
          <p:nvPr/>
        </p:nvSpPr>
        <p:spPr>
          <a:xfrm>
            <a:off x="7863840" y="4343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m3-n"/>
          <p:cNvSpPr txBox="1"/>
          <p:nvPr/>
        </p:nvSpPr>
        <p:spPr>
          <a:xfrm>
            <a:off x="78638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+</a:t>
            </a:r>
            <a:endParaRPr lang="en-US" sz="1800" dirty="0"/>
          </a:p>
        </p:txBody>
      </p:sp>
      <p:sp>
        <p:nvSpPr>
          <p:cNvPr id="12" name="m3-t"/>
          <p:cNvSpPr txBox="1"/>
          <p:nvPr/>
        </p:nvSpPr>
        <p:spPr>
          <a:xfrm>
            <a:off x="8549640" y="42976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Ventajas extra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Explicable y con las probabilidades más confiables. SMOTE (solo en train) no mejoró.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 el mismo cupo, detectamos 2,65 veces más abandonos</a:t>
            </a:r>
            <a:endParaRPr lang="en-US" sz="3200" dirty="0"/>
          </a:p>
        </p:txBody>
      </p:sp>
      <p:sp>
        <p:nvSpPr>
          <p:cNvPr id="3" name="res-card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res-num"/>
          <p:cNvSpPr txBox="1"/>
          <p:nvPr/>
        </p:nvSpPr>
        <p:spPr>
          <a:xfrm>
            <a:off x="82296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53 %</a:t>
            </a:r>
            <a:endParaRPr lang="en-US" sz="7200" dirty="0"/>
          </a:p>
        </p:txBody>
      </p:sp>
      <p:sp>
        <p:nvSpPr>
          <p:cNvPr id="5" name="res-txt"/>
          <p:cNvSpPr txBox="1"/>
          <p:nvPr/>
        </p:nvSpPr>
        <p:spPr>
          <a:xfrm>
            <a:off x="822960" y="2926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 los clientes que se van quedan dentro del 20 % que el modelo manda a llamar</a:t>
            </a:r>
            <a:endParaRPr lang="en-US" sz="1700" dirty="0"/>
          </a:p>
        </p:txBody>
      </p:sp>
      <p:sp>
        <p:nvSpPr>
          <p:cNvPr id="6" name="res-ref"/>
          <p:cNvSpPr txBox="1"/>
          <p:nvPr/>
        </p:nvSpPr>
        <p:spPr>
          <a:xfrm>
            <a:off x="822960" y="4114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 azar: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20 %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Techo posible: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75 %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480560" y="141732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res-meta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Meta fijada antes de entrenar: 55 % (mínimo 50 %). Se cumple el mínimo, no la meta.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explica el riesgo según el modelo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1-c"/>
          <p:cNvSpPr/>
          <p:nvPr/>
        </p:nvSpPr>
        <p:spPr>
          <a:xfrm>
            <a:off x="676656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d1-n"/>
          <p:cNvSpPr txBox="1"/>
          <p:nvPr/>
        </p:nvSpPr>
        <p:spPr>
          <a:xfrm>
            <a:off x="67665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d1-t"/>
          <p:cNvSpPr txBox="1"/>
          <p:nvPr/>
        </p:nvSpPr>
        <p:spPr>
          <a:xfrm>
            <a:off x="7452360" y="155448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Los primeros meses son críticos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los primeros 6 meses abandona el 52 %; después de 4 años, el 10 %.</a:t>
            </a:r>
            <a:endParaRPr lang="en-US" sz="1600" dirty="0"/>
          </a:p>
        </p:txBody>
      </p:sp>
      <p:sp>
        <p:nvSpPr>
          <p:cNvPr id="7" name="d2-c"/>
          <p:cNvSpPr/>
          <p:nvPr/>
        </p:nvSpPr>
        <p:spPr>
          <a:xfrm>
            <a:off x="6766560" y="2788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d2-n"/>
          <p:cNvSpPr txBox="1"/>
          <p:nvPr/>
        </p:nvSpPr>
        <p:spPr>
          <a:xfrm>
            <a:off x="67665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d2-t"/>
          <p:cNvSpPr txBox="1"/>
          <p:nvPr/>
        </p:nvSpPr>
        <p:spPr>
          <a:xfrm>
            <a:off x="7452360" y="27432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El contrato mes a mes suma riesgo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contrato de 2 años es el factor que más protege.</a:t>
            </a:r>
            <a:endParaRPr lang="en-US" sz="1600" dirty="0"/>
          </a:p>
        </p:txBody>
      </p:sp>
      <p:sp>
        <p:nvSpPr>
          <p:cNvPr id="10" name="d3-c"/>
          <p:cNvSpPr/>
          <p:nvPr/>
        </p:nvSpPr>
        <p:spPr>
          <a:xfrm>
            <a:off x="676656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d3-n"/>
          <p:cNvSpPr txBox="1"/>
          <p:nvPr/>
        </p:nvSpPr>
        <p:spPr>
          <a:xfrm>
            <a:off x="67665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d3-t"/>
          <p:cNvSpPr txBox="1"/>
          <p:nvPr/>
        </p:nvSpPr>
        <p:spPr>
          <a:xfrm>
            <a:off x="7452360" y="393192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Fibra óptica sin soporte técnico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fibra y la falta de soporte o seguridad online empujan el riesgo hacia arriba.</a:t>
            </a:r>
            <a:endParaRPr lang="en-US" sz="1600" dirty="0"/>
          </a:p>
        </p:txBody>
      </p:sp>
      <p:sp>
        <p:nvSpPr>
          <p:cNvPr id="13" name="shap-nota"/>
          <p:cNvSpPr txBox="1"/>
          <p:nvPr/>
        </p:nvSpPr>
        <p:spPr>
          <a:xfrm>
            <a:off x="6766560" y="5303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SHAP muestra cómo razona el modelo; no prueba causalidad.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Retener conviene si cuesta menos de lo que vale el cliente</a:t>
            </a:r>
            <a:endParaRPr lang="en-US" sz="3200" dirty="0"/>
          </a:p>
        </p:txBody>
      </p:sp>
      <p:sp>
        <p:nvSpPr>
          <p:cNvPr id="3" name="imp-intro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Valor neto preservado por cada 10.000 clientes (valor de los retenidos menos el costo de retenerlos):</a:t>
            </a:r>
            <a:endParaRPr lang="en-US" sz="1800" dirty="0"/>
          </a:p>
        </p:txBody>
      </p:sp>
      <p:sp>
        <p:nvSpPr>
          <p:cNvPr id="4" name="imp-0"/>
          <p:cNvSpPr/>
          <p:nvPr/>
        </p:nvSpPr>
        <p:spPr>
          <a:xfrm>
            <a:off x="548640" y="1965960"/>
            <a:ext cx="35204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mp-c-0"/>
          <p:cNvSpPr txBox="1"/>
          <p:nvPr/>
        </p:nvSpPr>
        <p:spPr>
          <a:xfrm>
            <a:off x="82296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Costo por retenido: USD 100</a:t>
            </a:r>
            <a:endParaRPr lang="en-US" sz="1500" dirty="0"/>
          </a:p>
        </p:txBody>
      </p:sp>
      <p:sp>
        <p:nvSpPr>
          <p:cNvPr id="6" name="imp-v-0"/>
          <p:cNvSpPr txBox="1"/>
          <p:nvPr/>
        </p:nvSpPr>
        <p:spPr>
          <a:xfrm>
            <a:off x="82296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USD 824 mil</a:t>
            </a:r>
            <a:endParaRPr lang="en-US" sz="3800" dirty="0"/>
          </a:p>
        </p:txBody>
      </p:sp>
      <p:sp>
        <p:nvSpPr>
          <p:cNvPr id="7" name="imp-t-0"/>
          <p:cNvSpPr txBox="1"/>
          <p:nvPr/>
        </p:nvSpPr>
        <p:spPr>
          <a:xfrm>
            <a:off x="82296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priorizando por valor en riesgo (al azar: USD 276 mil)</a:t>
            </a:r>
            <a:endParaRPr lang="en-US" sz="1500" dirty="0"/>
          </a:p>
        </p:txBody>
      </p:sp>
      <p:sp>
        <p:nvSpPr>
          <p:cNvPr id="8" name="imp-1"/>
          <p:cNvSpPr/>
          <p:nvPr/>
        </p:nvSpPr>
        <p:spPr>
          <a:xfrm>
            <a:off x="4343400" y="1965960"/>
            <a:ext cx="35204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mp-c-1"/>
          <p:cNvSpPr txBox="1"/>
          <p:nvPr/>
        </p:nvSpPr>
        <p:spPr>
          <a:xfrm>
            <a:off x="461772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Costo por retenido: USD 1.000</a:t>
            </a:r>
            <a:endParaRPr lang="en-US" sz="1500" dirty="0"/>
          </a:p>
        </p:txBody>
      </p:sp>
      <p:sp>
        <p:nvSpPr>
          <p:cNvPr id="10" name="imp-v-1"/>
          <p:cNvSpPr txBox="1"/>
          <p:nvPr/>
        </p:nvSpPr>
        <p:spPr>
          <a:xfrm>
            <a:off x="461772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USD 455 mil</a:t>
            </a:r>
            <a:endParaRPr lang="en-US" sz="3800" dirty="0"/>
          </a:p>
        </p:txBody>
      </p:sp>
      <p:sp>
        <p:nvSpPr>
          <p:cNvPr id="11" name="imp-t-1"/>
          <p:cNvSpPr txBox="1"/>
          <p:nvPr/>
        </p:nvSpPr>
        <p:spPr>
          <a:xfrm>
            <a:off x="461772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priorizando por valor en riesgo (al azar: USD 190 mil)</a:t>
            </a:r>
            <a:endParaRPr lang="en-US" sz="1500" dirty="0"/>
          </a:p>
        </p:txBody>
      </p:sp>
      <p:sp>
        <p:nvSpPr>
          <p:cNvPr id="12" name="imp-2"/>
          <p:cNvSpPr/>
          <p:nvPr/>
        </p:nvSpPr>
        <p:spPr>
          <a:xfrm>
            <a:off x="8138160" y="1965960"/>
            <a:ext cx="35204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imp-c-2"/>
          <p:cNvSpPr txBox="1"/>
          <p:nvPr/>
        </p:nvSpPr>
        <p:spPr>
          <a:xfrm>
            <a:off x="841248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Costo por retenido: USD 10.000</a:t>
            </a:r>
            <a:endParaRPr lang="en-US" sz="1500" dirty="0"/>
          </a:p>
        </p:txBody>
      </p:sp>
      <p:sp>
        <p:nvSpPr>
          <p:cNvPr id="14" name="imp-v-2"/>
          <p:cNvSpPr txBox="1"/>
          <p:nvPr/>
        </p:nvSpPr>
        <p:spPr>
          <a:xfrm>
            <a:off x="841248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No conviene</a:t>
            </a:r>
            <a:endParaRPr lang="en-US" sz="3800" dirty="0"/>
          </a:p>
        </p:txBody>
      </p:sp>
      <p:sp>
        <p:nvSpPr>
          <p:cNvPr id="15" name="imp-t-2"/>
          <p:cNvSpPr txBox="1"/>
          <p:nvPr/>
        </p:nvSpPr>
        <p:spPr>
          <a:xfrm>
            <a:off x="841248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ningún cliente vale tanto: conviene invertir en clientes nuevos</a:t>
            </a:r>
            <a:endParaRPr lang="en-US" sz="1500" dirty="0"/>
          </a:p>
        </p:txBody>
      </p:sp>
      <p:sp>
        <p:nvSpPr>
          <p:cNvPr id="16" name="imp-supuestos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Supuestos genéricos: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valor del cliente = cargo mensual × 24 meses; se retiene al 30 % de los contactados que iban a irse; solo se contacta a quien vale más que su costo de retención.</a:t>
            </a:r>
            <a:endParaRPr lang="en-US" sz="1600" dirty="0"/>
          </a:p>
        </p:txBody>
      </p:sp>
      <p:sp>
        <p:nvSpPr>
          <p:cNvPr id="17" name="imp-auto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Priorizar por valor en riesgo (probabilidad × valor) rescata a los que se van y además gastan mucho.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ofrecer a cada perfil de riesgo</a:t>
            </a:r>
            <a:endParaRPr lang="en-US" sz="3200" dirty="0"/>
          </a:p>
        </p:txBody>
      </p:sp>
      <p:sp>
        <p:nvSpPr>
          <p:cNvPr id="3" name="acc-0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cc-0-c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acc-0-n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acc-t-0"/>
          <p:cNvSpPr txBox="1"/>
          <p:nvPr/>
        </p:nvSpPr>
        <p:spPr>
          <a:xfrm>
            <a:off x="1554480" y="17830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Cliente nuevo con contrato mes a mes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Migración a contrato anual con beneficio de bienvenida.</a:t>
            </a:r>
            <a:endParaRPr lang="en-US" sz="1800" dirty="0"/>
          </a:p>
        </p:txBody>
      </p:sp>
      <p:sp>
        <p:nvSpPr>
          <p:cNvPr id="7" name="acc-1"/>
          <p:cNvSpPr/>
          <p:nvPr/>
        </p:nvSpPr>
        <p:spPr>
          <a:xfrm>
            <a:off x="6172200" y="155448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acc-1-c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acc-1-n"/>
          <p:cNvSpPr txBox="1"/>
          <p:nvPr/>
        </p:nvSpPr>
        <p:spPr>
          <a:xfrm>
            <a:off x="6446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cc-t-1"/>
          <p:cNvSpPr txBox="1"/>
          <p:nvPr/>
        </p:nvSpPr>
        <p:spPr>
          <a:xfrm>
            <a:off x="7178040" y="17830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Fibra óptica sin soporte ni seguridad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Soporte técnico o seguridad online sin costo por un período.</a:t>
            </a:r>
            <a:endParaRPr lang="en-US" sz="1800" dirty="0"/>
          </a:p>
        </p:txBody>
      </p:sp>
      <p:sp>
        <p:nvSpPr>
          <p:cNvPr id="11" name="acc-2"/>
          <p:cNvSpPr/>
          <p:nvPr/>
        </p:nvSpPr>
        <p:spPr>
          <a:xfrm>
            <a:off x="548640" y="370332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acc-2-c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acc-2-n"/>
          <p:cNvSpPr txBox="1"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acc-t-2"/>
          <p:cNvSpPr txBox="1"/>
          <p:nvPr/>
        </p:nvSpPr>
        <p:spPr>
          <a:xfrm>
            <a:off x="1554480" y="39319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Pago con cheque electrónico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Incentivo para pasar a débito automático.</a:t>
            </a:r>
            <a:endParaRPr lang="en-US" sz="1800" dirty="0"/>
          </a:p>
        </p:txBody>
      </p:sp>
      <p:sp>
        <p:nvSpPr>
          <p:cNvPr id="15" name="acc-3"/>
          <p:cNvSpPr/>
          <p:nvPr/>
        </p:nvSpPr>
        <p:spPr>
          <a:xfrm>
            <a:off x="6172200" y="370332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cc-3-c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acc-3-n"/>
          <p:cNvSpPr txBox="1"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acc-t-3"/>
          <p:cNvSpPr txBox="1"/>
          <p:nvPr/>
        </p:nvSpPr>
        <p:spPr>
          <a:xfrm>
            <a:off x="7178040" y="39319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Score alto en cualquier perfil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Contacto proactivo de Retención antes del vencimiento.</a:t>
            </a:r>
            <a:endParaRPr lang="en-US" sz="1800" dirty="0"/>
          </a:p>
        </p:txBody>
      </p:sp>
      <p:sp>
        <p:nvSpPr>
          <p:cNvPr id="19" name="acc-nota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Son hipótesis de negocio a validar en el piloto, no efectos causales probados.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Riesgos, ética y privacidad</a:t>
            </a:r>
            <a:endParaRPr lang="en-US" sz="3200" dirty="0"/>
          </a:p>
        </p:txBody>
      </p:sp>
      <p:sp>
        <p:nvSpPr>
          <p:cNvPr id="3" name="rg-0-c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rg-0-n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rg-t-0"/>
          <p:cNvSpPr txBox="1"/>
          <p:nvPr/>
        </p:nvSpPr>
        <p:spPr>
          <a:xfrm>
            <a:off x="1280160" y="1463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Datos sin fechas: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 sabemos si el patrón se mantiene en el tiempo: reentrenar y monitorear en cada campaña.</a:t>
            </a:r>
            <a:endParaRPr lang="en-US" sz="1700" dirty="0"/>
          </a:p>
        </p:txBody>
      </p:sp>
      <p:sp>
        <p:nvSpPr>
          <p:cNvPr id="6" name="rg-1-c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rg-1-n"/>
          <p:cNvSpPr txBox="1"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rg-t-1"/>
          <p:cNvSpPr txBox="1"/>
          <p:nvPr/>
        </p:nvSpPr>
        <p:spPr>
          <a:xfrm>
            <a:off x="1280160" y="2606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Grupos menos detectados: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Clientes con personas a cargo: recall 24-34 % contra 55-58 %. Auditar por grupo en cada campaña.</a:t>
            </a:r>
            <a:endParaRPr lang="en-US" sz="1700" dirty="0"/>
          </a:p>
        </p:txBody>
      </p:sp>
      <p:sp>
        <p:nvSpPr>
          <p:cNvPr id="9" name="rg-2-c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rg-2-n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rg-t-2"/>
          <p:cNvSpPr txBox="1"/>
          <p:nvPr/>
        </p:nvSpPr>
        <p:spPr>
          <a:xfrm>
            <a:off x="1280160" y="3749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Atributos sensibles: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Sin género ni edad el modelo rinde igual (PR-AUC 0,664 vs. 0,666): se recomienda excluirlos.</a:t>
            </a:r>
            <a:endParaRPr lang="en-US" sz="1700" dirty="0"/>
          </a:p>
        </p:txBody>
      </p:sp>
      <p:sp>
        <p:nvSpPr>
          <p:cNvPr id="12" name="rg-3-c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rg-3-n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rg-t-3"/>
          <p:cNvSpPr txBox="1"/>
          <p:nvPr/>
        </p:nvSpPr>
        <p:spPr>
          <a:xfrm>
            <a:off x="128016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Privacidad: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Datos anonimizados, minimización de datos y control de accesos.</a:t>
            </a:r>
            <a:endParaRPr lang="en-US" sz="1700" dirty="0"/>
          </a:p>
        </p:txBody>
      </p:sp>
      <p:sp>
        <p:nvSpPr>
          <p:cNvPr id="15" name="rg-nota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En el test apareció una brecha de detección por género, pero no se repite en las 4.507 predicciones de validación cruzada: no es un patrón sistemático.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Recomendación: piloto A/B antes de escalar</a:t>
            </a:r>
            <a:endParaRPr lang="en-US" sz="3400" dirty="0"/>
          </a:p>
        </p:txBody>
      </p:sp>
      <p:sp>
        <p:nvSpPr>
          <p:cNvPr id="3" name="rec-0"/>
          <p:cNvSpPr/>
          <p:nvPr/>
        </p:nvSpPr>
        <p:spPr>
          <a:xfrm>
            <a:off x="548640" y="1645920"/>
            <a:ext cx="3520440" cy="2468880"/>
          </a:xfrm>
          <a:prstGeom prst="roundRect">
            <a:avLst>
              <a:gd name="adj" fmla="val 4444"/>
            </a:avLst>
          </a:prstGeom>
          <a:solidFill>
            <a:schemeClr val="accent6"/>
          </a:solidFill>
          <a:ln/>
        </p:spPr>
      </p:sp>
      <p:sp>
        <p:nvSpPr>
          <p:cNvPr id="4" name="rec-0-c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rec-0-n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rec-t-0"/>
          <p:cNvSpPr txBox="1"/>
          <p:nvPr/>
        </p:nvSpPr>
        <p:spPr>
          <a:xfrm>
            <a:off x="822960" y="2606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Piloto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20 % priorizado por el modelo contra 20 % al azar, con el mismo presupuesto.</a:t>
            </a:r>
            <a:endParaRPr lang="en-US" sz="2200" dirty="0"/>
          </a:p>
        </p:txBody>
      </p:sp>
      <p:sp>
        <p:nvSpPr>
          <p:cNvPr id="7" name="rec-1"/>
          <p:cNvSpPr/>
          <p:nvPr/>
        </p:nvSpPr>
        <p:spPr>
          <a:xfrm>
            <a:off x="4343400" y="1645920"/>
            <a:ext cx="3520440" cy="2468880"/>
          </a:xfrm>
          <a:prstGeom prst="roundRect">
            <a:avLst>
              <a:gd name="adj" fmla="val 4444"/>
            </a:avLst>
          </a:prstGeom>
          <a:solidFill>
            <a:schemeClr val="accent6"/>
          </a:solidFill>
          <a:ln/>
        </p:spPr>
      </p:sp>
      <p:sp>
        <p:nvSpPr>
          <p:cNvPr id="8" name="rec-1-c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rec-1-n"/>
          <p:cNvSpPr txBox="1"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rec-t-1"/>
          <p:cNvSpPr txBox="1"/>
          <p:nvPr/>
        </p:nvSpPr>
        <p:spPr>
          <a:xfrm>
            <a:off x="4617720" y="2606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Medir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Retención real, costo por cliente retenido y detección por grupo.</a:t>
            </a:r>
            <a:endParaRPr lang="en-US" sz="2200" dirty="0"/>
          </a:p>
        </p:txBody>
      </p:sp>
      <p:sp>
        <p:nvSpPr>
          <p:cNvPr id="11" name="rec-2"/>
          <p:cNvSpPr/>
          <p:nvPr/>
        </p:nvSpPr>
        <p:spPr>
          <a:xfrm>
            <a:off x="8138160" y="1645920"/>
            <a:ext cx="3520440" cy="2468880"/>
          </a:xfrm>
          <a:prstGeom prst="roundRect">
            <a:avLst>
              <a:gd name="adj" fmla="val 4444"/>
            </a:avLst>
          </a:prstGeom>
          <a:solidFill>
            <a:schemeClr val="accent6"/>
          </a:solidFill>
          <a:ln/>
        </p:spPr>
      </p:sp>
      <p:sp>
        <p:nvSpPr>
          <p:cNvPr id="12" name="rec-2-c"/>
          <p:cNvSpPr/>
          <p:nvPr/>
        </p:nvSpPr>
        <p:spPr>
          <a:xfrm>
            <a:off x="8412480" y="19202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rec-2-n"/>
          <p:cNvSpPr txBox="1"/>
          <p:nvPr/>
        </p:nvSpPr>
        <p:spPr>
          <a:xfrm>
            <a:off x="8412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rec-t-2"/>
          <p:cNvSpPr txBox="1"/>
          <p:nvPr/>
        </p:nvSpPr>
        <p:spPr>
          <a:xfrm>
            <a:off x="8412480" y="2606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Escalar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Solo si el piloto confirma el beneficio; reentrenar en cada campaña.</a:t>
            </a:r>
            <a:endParaRPr lang="en-US" sz="2200" dirty="0"/>
          </a:p>
        </p:txBody>
      </p:sp>
      <p:sp>
        <p:nvSpPr>
          <p:cNvPr id="15" name="links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Código y datos: </a:t>
            </a:r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github.com/jgrozo660/Proyecto-Final-AnalisisDeDatos-UTN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Notebook en Colab: </a:t>
            </a:r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desde el botón "Open in Colab" del README</a:t>
            </a:r>
            <a:endParaRPr lang="en-US" sz="1600" dirty="0"/>
          </a:p>
        </p:txBody>
      </p:sp>
      <p:sp>
        <p:nvSpPr>
          <p:cNvPr id="16" name="gracias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Grupo 4 · ¡Gracias!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encion">
  <a:themeElements>
    <a:clrScheme name="Retencion">
      <a:dk1>
        <a:srgbClr val="1B2328"/>
      </a:dk1>
      <a:lt1>
        <a:srgbClr val="FFFFFF"/>
      </a:lt1>
      <a:dk2>
        <a:srgbClr val="0E3B4A"/>
      </a:dk2>
      <a:lt2>
        <a:srgbClr val="EEF3F4"/>
      </a:lt2>
      <a:accent1>
        <a:srgbClr val="13788A"/>
      </a:accent1>
      <a:accent2>
        <a:srgbClr val="E2583E"/>
      </a:accent2>
      <a:accent3>
        <a:srgbClr val="8FB8C1"/>
      </a:accent3>
      <a:accent4>
        <a:srgbClr val="9AA3A7"/>
      </a:accent4>
      <a:accent5>
        <a:srgbClr val="F2B441"/>
      </a:accent5>
      <a:accent6>
        <a:srgbClr val="2F5D6B"/>
      </a:accent6>
      <a:hlink>
        <a:srgbClr val="13788A"/>
      </a:hlink>
      <a:folHlink>
        <a:srgbClr val="2F5D6B"/>
      </a:folHlink>
    </a:clrScheme>
    <a:fontScheme name="Retenc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Grupo 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Final - Proyecto Final Integrador</dc:title>
  <dc:subject>Predicción de abandono de clientes</dc:subject>
  <dc:creator>Grupo 4</dc:creator>
  <cp:lastModifiedBy>Grupo 4</cp:lastModifiedBy>
  <cp:revision>1</cp:revision>
  <dcterms:created xsi:type="dcterms:W3CDTF">2026-10-12T22:25:27Z</dcterms:created>
  <dcterms:modified xsi:type="dcterms:W3CDTF">2026-10-12T22:25:27Z</dcterms:modified>
</cp:coreProperties>
</file>