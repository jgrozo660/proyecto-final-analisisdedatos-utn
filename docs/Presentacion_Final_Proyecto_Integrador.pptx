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todos los clientes se rescatan por igual. Los Golden se van y además gastan mucho: ahí se justifica invertir. La cuenta es simple: retener tiene que costar menos que dejarlo ir y conseguir uno nuevo con publicidad.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de confianza.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e intervalos de confianza).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Rescatar Golden cuesta menos que captar clientes</a:t>
            </a:r>
            <a:endParaRPr lang="en-US" sz="3200" dirty="0"/>
          </a:p>
        </p:txBody>
      </p:sp>
      <p:sp>
        <p:nvSpPr>
          <p:cNvPr id="3" name="seg-0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eg-borde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" name="seg-t-0"/>
          <p:cNvSpPr txBox="1"/>
          <p:nvPr/>
        </p:nvSpPr>
        <p:spPr>
          <a:xfrm>
            <a:off x="777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Golden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16 % de la cartera · 70 % abandona · 49 % del valor perdido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Rescatar: contacto e incentivo</a:t>
            </a:r>
            <a:endParaRPr lang="en-US" sz="1800" dirty="0"/>
          </a:p>
        </p:txBody>
      </p:sp>
      <p:sp>
        <p:nvSpPr>
          <p:cNvPr id="6" name="seg-1"/>
          <p:cNvSpPr/>
          <p:nvPr/>
        </p:nvSpPr>
        <p:spPr>
          <a:xfrm>
            <a:off x="3977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eg-t-1"/>
          <p:cNvSpPr txBox="1"/>
          <p:nvPr/>
        </p:nvSpPr>
        <p:spPr>
          <a:xfrm>
            <a:off x="4206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Champions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34 % de la cartera · 18 %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Fidelizar sin descuento</a:t>
            </a:r>
            <a:endParaRPr lang="en-US" sz="1800" dirty="0"/>
          </a:p>
        </p:txBody>
      </p:sp>
      <p:sp>
        <p:nvSpPr>
          <p:cNvPr id="8" name="seg-2"/>
          <p:cNvSpPr/>
          <p:nvPr/>
        </p:nvSpPr>
        <p:spPr>
          <a:xfrm>
            <a:off x="548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eg-t-2"/>
          <p:cNvSpPr txBox="1"/>
          <p:nvPr/>
        </p:nvSpPr>
        <p:spPr>
          <a:xfrm>
            <a:off x="777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En riesgo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4 % de la cartera · 73 %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Solo acciones de bajo costo</a:t>
            </a:r>
            <a:endParaRPr lang="en-US" sz="1800" dirty="0"/>
          </a:p>
        </p:txBody>
      </p:sp>
      <p:sp>
        <p:nvSpPr>
          <p:cNvPr id="10" name="seg-3"/>
          <p:cNvSpPr/>
          <p:nvPr/>
        </p:nvSpPr>
        <p:spPr>
          <a:xfrm>
            <a:off x="3977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eg-t-3"/>
          <p:cNvSpPr txBox="1"/>
          <p:nvPr/>
        </p:nvSpPr>
        <p:spPr>
          <a:xfrm>
            <a:off x="4206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4"/>
                </a:solidFill>
              </a:rPr>
              <a:t>Estables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46 % de la cartera · 14 %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Sin acción</a:t>
            </a:r>
            <a:endParaRPr lang="en-US" sz="1800" dirty="0"/>
          </a:p>
        </p:txBody>
      </p:sp>
      <p:sp>
        <p:nvSpPr>
          <p:cNvPr id="12" name="cac"/>
          <p:cNvSpPr/>
          <p:nvPr/>
        </p:nvSpPr>
        <p:spPr>
          <a:xfrm>
            <a:off x="7589520" y="1417320"/>
            <a:ext cx="4023360" cy="4297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cac-t"/>
          <p:cNvSpPr txBox="1"/>
          <p:nvPr/>
        </p:nvSpPr>
        <p:spPr>
          <a:xfrm>
            <a:off x="7863840" y="164592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Retener un Golden conviene si cuesta menos de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800" b="1" dirty="0">
                <a:solidFill>
                  <a:schemeClr val="bg1"/>
                </a:solidFill>
              </a:rPr>
              <a:t>USD 854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Costo de retener &lt; valor Golden − valor nuevo + CAC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= 2.135 − 1.581 + 300 (CAC genérico) = 2,8 veces el CAC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 USD 100 por retenido: +USD 255 mil por cada 10.000 clientes frente a reemplazarlos. Con USD 1.000 ya no conviene.</a:t>
            </a:r>
            <a:endParaRPr lang="en-US" sz="1500" dirty="0"/>
          </a:p>
        </p:txBody>
      </p:sp>
      <p:sp>
        <p:nvSpPr>
          <p:cNvPr id="14" name="imp-sup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Supuestos genéricos: valor = cargo mensual × 24 meses de ciclo de vida; la acción retiene al 30 % de los Golden que iban a irse.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Datos anonimizados, minimización de datos y control de accesos.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costo-proy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Costo del proyecto: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meses con un analista y un desarrollador a media jornada ≈ USD 5.600; primer año ≈ USD 8.600. Se recupera reteniendo 8 Golden.</a:t>
            </a:r>
            <a:endParaRPr lang="en-US" sz="1600" dirty="0"/>
          </a:p>
        </p:txBody>
      </p:sp>
      <p:sp>
        <p:nvSpPr>
          <p:cNvPr id="16" name="links"/>
          <p:cNvSpPr txBox="1"/>
          <p:nvPr/>
        </p:nvSpPr>
        <p:spPr>
          <a:xfrm>
            <a:off x="548640" y="4892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7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2026-10-16T02:22:57Z</dcterms:created>
  <dcterms:modified xsi:type="dcterms:W3CDTF">2026-10-16T02:22:57Z</dcterms:modified>
</cp:coreProperties>
</file>